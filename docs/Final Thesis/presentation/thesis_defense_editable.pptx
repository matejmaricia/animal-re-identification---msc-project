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9728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/>
              <a:t>Deep Learning-Based Animal Re-Identification</a:t>
            </a:r>
          </a:p>
          <a:p>
            <a:pPr algn="ctr"/>
            <a:r>
              <a:rPr sz="4000" b="1"/>
              <a:t>for Non-Invasive Wildlife Monitoring and Conservation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3832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/>
              <a:t>MSc Thesis Defense (15 min)</a:t>
            </a:r>
          </a:p>
          <a:p>
            <a:pPr algn="ctr"/>
            <a:r>
              <a:rPr sz="2200" b="0"/>
              <a:t>Matej Maric -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Motivation: Why a Species-Agnostic Pipeline?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49377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/>
              <a:t>- Unified pipeline across species</a:t>
            </a:r>
          </a:p>
          <a:p>
            <a:pPr algn="l"/>
            <a:r>
              <a:rPr sz="2600" b="0"/>
              <a:t>- Minimal supervision, practical runtime</a:t>
            </a:r>
          </a:p>
          <a:p>
            <a:pPr algn="l"/>
            <a:r>
              <a:rPr sz="2600" b="0"/>
              <a:t>- Re-ID as a building block for counting</a:t>
            </a:r>
          </a:p>
        </p:txBody>
      </p:sp>
      <p:pic>
        <p:nvPicPr>
          <p:cNvPr id="4" name="Picture 3" descr="dataset_examples_gr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263140"/>
            <a:ext cx="62179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Datasets: WildlifeReID-10k (7 Used Here)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/>
              <a:t>WildlifeReID-10k: 37 datasets, 33 species, 140k images, 10.7k individuals.</a:t>
            </a:r>
          </a:p>
          <a:p>
            <a:pPr algn="l"/>
            <a:r>
              <a:rPr sz="1800" b="0"/>
              <a:t>Evaluated on 7 datasets spanning easy to hard cases (closed-set).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37360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 b="1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#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# individuals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split type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ATRW*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5,415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Original MD split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CZoo*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4,662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Original MD split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SealID*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Original MD split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CowDataset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1,485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Time-aware split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Chicks4FreeID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1,146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Similarity-aware split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SeaStarReID2023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2,187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Time-aware split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ELPephants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2,078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Random split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3093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/>
              <a:t>* MD-trained datasets: use the exact training split to avoid additional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Evaluation Rigor: Leakage Control</a:t>
            </a:r>
          </a:p>
        </p:txBody>
      </p:sp>
      <p:pic>
        <p:nvPicPr>
          <p:cNvPr id="3" name="Picture 2" descr="atrw_data_l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31878"/>
            <a:ext cx="5806440" cy="17600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417320"/>
            <a:ext cx="53035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/>
              <a:t>- Time-aware splits</a:t>
            </a:r>
          </a:p>
          <a:p>
            <a:pPr algn="l"/>
            <a:r>
              <a:rPr sz="2400" b="0"/>
              <a:t>- Similarity-aware splits</a:t>
            </a:r>
          </a:p>
          <a:p>
            <a:pPr algn="l"/>
            <a:r>
              <a:rPr sz="2400" b="0"/>
              <a:t>- MD-train split alignment (ATRW/CZoo/SealID*)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Classification Funnel: Retrieve -&gt; Rerank -&gt;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/>
              <a:t>- Tier-1: retrieve candidates (Global + Fisher) and take the union</a:t>
            </a:r>
          </a:p>
          <a:p>
            <a:pPr algn="l"/>
            <a:r>
              <a:rPr sz="2800" b="0"/>
              <a:t>- Tier-2: calibrate and fuse scores into same-ID probability</a:t>
            </a:r>
          </a:p>
          <a:p>
            <a:pPr algn="l"/>
            <a:r>
              <a:rPr sz="2800" b="0"/>
              <a:t>- Tier-3: geometric verification (keypoints + RANSAC) on the shortlist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Pipeline Overview (Full)</a:t>
            </a:r>
          </a:p>
        </p:txBody>
      </p:sp>
      <p:pic>
        <p:nvPicPr>
          <p:cNvPr id="3" name="Picture 2" descr="classificatio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858" y="868680"/>
            <a:ext cx="584980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Tier 1: Candidate Retrieval (Concept)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/>
              <a:t>- Two fast signals: Global embeddings + Fisher vectors</a:t>
            </a:r>
          </a:p>
          <a:p>
            <a:pPr algn="l"/>
            <a:r>
              <a:rPr sz="2600" b="0"/>
              <a:t>- Take top-K from each and form an ordered union (deduped)</a:t>
            </a:r>
          </a:p>
          <a:p>
            <a:pPr algn="l"/>
            <a:r>
              <a:rPr sz="2600" b="0"/>
              <a:t>- Goal: high-recall shortlist for expensive stages</a:t>
            </a:r>
          </a:p>
          <a:p>
            <a:pPr algn="l"/>
            <a:r>
              <a:rPr sz="2600" b="0"/>
              <a:t>- Background removal helps stabilize local evidence (optional)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Tier 1: Candidate Retrieval (Visualization)</a:t>
            </a:r>
          </a:p>
        </p:txBody>
      </p:sp>
      <p:pic>
        <p:nvPicPr>
          <p:cNvPr id="3" name="Picture 2" descr="tier1_un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868680"/>
            <a:ext cx="100787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Tier 2: Calibration and Fusion (Concept)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/>
              <a:t>- Raw similarities are not comparable across modalities</a:t>
            </a:r>
          </a:p>
          <a:p>
            <a:pPr algn="l"/>
            <a:r>
              <a:rPr sz="2600" b="0"/>
              <a:t>- Per-dataset calibration: score -&gt; P(same | score)</a:t>
            </a:r>
          </a:p>
          <a:p>
            <a:pPr algn="l"/>
            <a:r>
              <a:rPr sz="2600" b="0"/>
              <a:t>- Fuse calibrated Global + Fisher (simple average)</a:t>
            </a:r>
          </a:p>
          <a:p>
            <a:pPr algn="l"/>
            <a:r>
              <a:rPr sz="2600" b="0"/>
              <a:t>- Output: Tier-2 reranking of the union shortlist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Tier 2: Calibration and Fusion (Visualization)</a:t>
            </a:r>
          </a:p>
        </p:txBody>
      </p:sp>
      <p:pic>
        <p:nvPicPr>
          <p:cNvPr id="3" name="Picture 2" descr="tier2_fus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868680"/>
            <a:ext cx="100787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Tier 3: Geometric Verification (Concept)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/>
              <a:t>- Run only on a small shortlist (most expensive stage)</a:t>
            </a:r>
          </a:p>
          <a:p>
            <a:pPr algn="l"/>
            <a:r>
              <a:rPr sz="2600" b="0"/>
              <a:t>- Match local keypoints and estimate geometric consistency</a:t>
            </a:r>
          </a:p>
          <a:p>
            <a:pPr algn="l"/>
            <a:r>
              <a:rPr sz="2600" b="0"/>
              <a:t>- Inlier count provides strong evidence against false matches</a:t>
            </a:r>
          </a:p>
          <a:p>
            <a:pPr algn="l"/>
            <a:r>
              <a:rPr sz="2600" b="0"/>
              <a:t>- Especially helpful on hard datasets (e.g., ELPephants)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Tier 3: Geometric Verification (Visualization)</a:t>
            </a:r>
          </a:p>
        </p:txBody>
      </p:sp>
      <p:pic>
        <p:nvPicPr>
          <p:cNvPr id="3" name="Picture 2" descr="tier3_gv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868680"/>
            <a:ext cx="100787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Classification Results (Mean over 7 datasets)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417320"/>
          <a:ext cx="6583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WildFusion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This thesis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Top-1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71.75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88.18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86.73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Top-5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79.58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91.91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90.70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F1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71.51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87.35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85.70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Runtime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214.52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42.53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06640" y="1325880"/>
            <a:ext cx="4480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/>
              <a:t>- WildFusion: strong calibrated fusion baseline</a:t>
            </a:r>
          </a:p>
          <a:p>
            <a:pPr algn="l"/>
            <a:r>
              <a:rPr sz="2400" b="0"/>
              <a:t>- GV is expensive -&gt; applied only on a shortlist</a:t>
            </a:r>
          </a:p>
          <a:p>
            <a:pPr algn="l"/>
            <a:r>
              <a:rPr sz="2400" b="0"/>
              <a:t>- Key point: near-WildFusion accuracy at ~5x lower runtime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Classification Results (Selected Datasets)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234440"/>
          <a:ext cx="11750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755"/>
                <a:gridCol w="1468755"/>
                <a:gridCol w="1468755"/>
                <a:gridCol w="1468755"/>
                <a:gridCol w="1468755"/>
                <a:gridCol w="1468755"/>
                <a:gridCol w="1468755"/>
                <a:gridCol w="1468755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WildFusion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G+F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F+GV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G+F+GV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ELPephants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13.66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49.31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46.73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54.46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Top-5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21.78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57.03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31.49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32.48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68.12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64.95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45.19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18.21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19.26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42.87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49.71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SealID*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78.42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97.60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65.23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79.38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85.13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Top-5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98.56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89.69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88.97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77.86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97.67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64.59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78.47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84.40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SeaStarReID2023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47.91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80.47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68.84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62.79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77.21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77.21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Top-5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73.49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90.70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85.58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82.79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85.58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85.58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45.71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79.09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67.92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60.70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76.40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76.85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080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GV gain (ELPephants Top-1): 21.58 (G+F) -&gt; 54.46 (G+F+GV).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ELPephants: A Stress-Test for Local + 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5760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/>
              <a:t>- Smooth texture -&gt; weak global cues</a:t>
            </a:r>
          </a:p>
          <a:p>
            <a:pPr algn="l"/>
            <a:r>
              <a:rPr sz="2200" b="0"/>
              <a:t>- Strong pose/illumination/mud variation</a:t>
            </a:r>
          </a:p>
          <a:p>
            <a:pPr algn="l"/>
            <a:r>
              <a:rPr sz="2200" b="0"/>
              <a:t>- Local evidence + GV is crucial</a:t>
            </a:r>
          </a:p>
          <a:p>
            <a:pPr algn="l"/>
            <a:r>
              <a:rPr sz="2200" b="0"/>
              <a:t>- Best Top-1: 54.46% (vs 49.31% WildFusion)</a:t>
            </a:r>
          </a:p>
        </p:txBody>
      </p:sp>
      <p:pic>
        <p:nvPicPr>
          <p:cNvPr id="4" name="Picture 3" descr="elephants_train_SAF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65933"/>
            <a:ext cx="5303520" cy="24290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Population Counting: HITL-NIS (Idea)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67665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/>
              <a:t>- Goal: estimate #individuals without full clustering</a:t>
            </a:r>
          </a:p>
          <a:p>
            <a:pPr algn="l"/>
            <a:r>
              <a:rPr sz="2400" b="0"/>
              <a:t>- Model images as clique graph -&gt; connected components</a:t>
            </a:r>
          </a:p>
          <a:p>
            <a:pPr algn="l"/>
            <a:r>
              <a:rPr sz="2400" b="0"/>
              <a:t>- Query only a small number of pairs (oracle: same/different)</a:t>
            </a:r>
          </a:p>
          <a:p>
            <a:pPr algn="l"/>
            <a:r>
              <a:rPr sz="2400" b="0"/>
              <a:t>- Use Nested Importance Sampling to reduce 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43800" y="2011680"/>
            <a:ext cx="4297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/>
              <a:t>K = Σu 1 / (1 + d(u))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0" y="3749039"/>
            <a:ext cx="4297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/>
              <a:t>N vertices, M neighbors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Counting Drawbacks: Human Error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/>
              <a:t>- Pair labels are highly imbalanced (mostly 'different')</a:t>
            </a:r>
          </a:p>
          <a:p>
            <a:pPr algn="l"/>
            <a:r>
              <a:rPr sz="2600" b="0"/>
              <a:t>- False positives merge identities -&gt; underestimation collapse</a:t>
            </a:r>
          </a:p>
          <a:p>
            <a:pPr algn="l"/>
            <a:r>
              <a:rPr sz="2600" b="0"/>
              <a:t>- Confidence intervals capture sampling variance, not bias</a:t>
            </a:r>
          </a:p>
          <a:p>
            <a:pPr algn="l"/>
            <a:r>
              <a:rPr sz="2600" b="0"/>
              <a:t>- Mitigation: positive confirmation (accept 'same' only after K votes)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Population Results (K=2): Full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234440"/>
          <a:ext cx="1175004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755"/>
                <a:gridCol w="1468755"/>
                <a:gridCol w="1468755"/>
                <a:gridCol w="1468755"/>
                <a:gridCol w="1468755"/>
                <a:gridCol w="1468755"/>
                <a:gridCol w="1468755"/>
                <a:gridCol w="1468755"/>
              </a:tblGrid>
              <a:tr h="563880">
                <a:tc>
                  <a:txBody>
                    <a:bodyPr/>
                    <a:lstStyle/>
                    <a:p>
                      <a:pPr algn="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ATRW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CowDataset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Chicks4FreeID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CZoo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ELPephants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SealID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SeaStarReID2023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#images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2077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91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p=0.00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278 [132, 425]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12 [11, 13]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50 [43, 58]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24 [23, 26]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334 [267, 401]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56 [45, 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106 [85, 128]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212 [124, 300]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13 [11, 14]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50 [42, 57]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25 [23, 27]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320 [259, 381]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65 [47, 83]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106 [87, 126]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178 [116, 240]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13 [12, 14]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47 [41, 54]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26 [24, 27]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178 [157, 199]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53 [43, 62]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93 [79, 106]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72 [58, 86]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13 [12, 14]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39 [34, 43]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25 [23, 27]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78 [73, 83]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45 [37, 54]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59 [52, 66]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39 [34, 45]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12 [11, 14]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27 [24, 30]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22 [20, 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40 [38, 43]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33 [29, 38]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37 [33, 41]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11 [10, 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8 [7, 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10 [9, 11]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13 [11, 14]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11 [10, 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13 [11, 15]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11 [10, 12]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550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/>
              <a:t>Bold: GT inside the 95% confidence interval.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Population Results (K=1): Full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234440"/>
          <a:ext cx="1175004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755"/>
                <a:gridCol w="1468755"/>
                <a:gridCol w="1468755"/>
                <a:gridCol w="1468755"/>
                <a:gridCol w="1468755"/>
                <a:gridCol w="1468755"/>
                <a:gridCol w="1468755"/>
                <a:gridCol w="1468755"/>
              </a:tblGrid>
              <a:tr h="563880">
                <a:tc>
                  <a:txBody>
                    <a:bodyPr/>
                    <a:lstStyle/>
                    <a:p>
                      <a:pPr algn="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ATRW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CowDataset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Chicks4FreeID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CZoo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ELPephants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SealID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SeaStarReID2023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#images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2077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91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p=0.00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278 [132, 425]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12 [11, 13]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50 [43, 58]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24 [23, 26]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342 [298, 386]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56 [45, 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106 [85, 128]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40 [33, 46]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10 [9, 11]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25 [22, 28]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 [17, 20]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42 [41, 44]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29 [25, 34]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36 [32, 40]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18 [16, 20]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8 [7, 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15 [13, 16]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13 [12, 15]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 [18, 20]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17 [15, 20]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18 [16, 20]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10 [9, 11]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 [5, 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 [8, 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 [8, 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10 [9, 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11 [9, 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10 [9, 11]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7 [6, 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 [4, 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 [5, 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7 [6, 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7 [6, 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8 [7, 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7 [6, 7]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00" b="1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 [3, 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 [2, 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 [3, 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 [3, 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 [3, 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 [3, 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 [3, 4]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550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/>
              <a:t>Bold: GT inside the 95% confidence interval.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/>
              <a:t>- Species-agnostic 3-tier Re-ID works across multiple benchmarks</a:t>
            </a:r>
          </a:p>
          <a:p>
            <a:pPr algn="l"/>
            <a:r>
              <a:rPr sz="2800" b="0"/>
              <a:t>- Global + Fisher + GV gives strong accuracy/runtime trade-off</a:t>
            </a:r>
          </a:p>
          <a:p>
            <a:pPr algn="l"/>
            <a:r>
              <a:rPr sz="2800" b="0"/>
              <a:t>- HITL-NIS is promising, but very sensitive to human error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/>
              <a:t>- Validate counting with real annotators (not simulated error)</a:t>
            </a:r>
          </a:p>
          <a:p>
            <a:pPr algn="l"/>
            <a:r>
              <a:rPr sz="2800" b="0"/>
              <a:t>- Better global backbone and stronger local matching for hard datasets</a:t>
            </a:r>
          </a:p>
          <a:p>
            <a:pPr algn="l"/>
            <a:r>
              <a:rPr sz="2800" b="0"/>
              <a:t>- Link photographed-individual counts to true abundance/density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Thank you</a:t>
            </a:r>
          </a:p>
          <a:p>
            <a:pPr algn="ctr"/>
            <a:r>
              <a:rPr sz="4400" b="1"/>
              <a:t>Questions?</a:t>
            </a:r>
          </a:p>
        </p:txBody>
      </p:sp>
      <p:pic>
        <p:nvPicPr>
          <p:cNvPr id="3" name="Picture 2" descr="segmentation_pipeline_v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83230"/>
            <a:ext cx="9418320" cy="2354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